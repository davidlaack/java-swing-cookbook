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1" r:id="rId20"/>
    <p:sldId id="274" r:id="rId21"/>
    <p:sldId id="278" r:id="rId22"/>
    <p:sldId id="276" r:id="rId23"/>
    <p:sldId id="277" r:id="rId24"/>
    <p:sldId id="279" r:id="rId25"/>
    <p:sldId id="280" r:id="rId26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73736"/>
  </p:normalViewPr>
  <p:slideViewPr>
    <p:cSldViewPr snapToGrid="0">
      <p:cViewPr varScale="1">
        <p:scale>
          <a:sx n="116" d="100"/>
          <a:sy n="116" d="100"/>
        </p:scale>
        <p:origin x="1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81F56-7BBE-A946-832B-B6090174BD5F}" type="datetimeFigureOut">
              <a:rPr lang="de-DE" smtClean="0"/>
              <a:t>06.07.26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E57A4-250C-CA45-8814-8E5928731B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8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1751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effectLst/>
              </a:rPr>
              <a:t>Durch </a:t>
            </a:r>
            <a:r>
              <a:rPr lang="de-DE" dirty="0" err="1">
                <a:effectLst/>
              </a:rPr>
              <a:t>UIManager.setLookAndFeel</a:t>
            </a:r>
            <a:r>
              <a:rPr lang="de-DE" dirty="0">
                <a:effectLst/>
              </a:rPr>
              <a:t>(...) wird das native Design des Betriebssystems (</a:t>
            </a:r>
            <a:r>
              <a:rPr lang="de-DE" dirty="0" err="1">
                <a:effectLst/>
              </a:rPr>
              <a:t>macOS</a:t>
            </a:r>
            <a:r>
              <a:rPr lang="de-DE" dirty="0">
                <a:effectLst/>
              </a:rPr>
              <a:t>, Windows, Linux) übernommen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>
                <a:effectLst/>
              </a:rPr>
              <a:t>MainFrame</a:t>
            </a:r>
            <a:r>
              <a:rPr lang="de-DE" dirty="0">
                <a:effectLst/>
              </a:rPr>
              <a:t> wird über </a:t>
            </a:r>
            <a:r>
              <a:rPr lang="de-DE" dirty="0" err="1">
                <a:effectLst/>
              </a:rPr>
              <a:t>SwingUtilities.invokeLater</a:t>
            </a:r>
            <a:r>
              <a:rPr lang="de-DE" dirty="0">
                <a:effectLst/>
              </a:rPr>
              <a:t>() im Event Dispatch Thread (EDT) gestartet. Dies ist eine wichtige Best Practice in Swing, um Thread-Konflikte und Darstellungsprobleme zu vermeiden.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199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8019-3138-58E1-EEC1-1A1418A11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7E718D-881E-DCD3-5371-7603D1155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1CBD43C-9229-759D-9D18-5A86D8E48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0ECA40-8693-7586-9FD9-43043508E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778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81564-FCB0-CC92-751F-E7D95E4C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7C7E1C-A3C3-4024-45BC-353A2DACA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ECFCF82-27CC-F109-BDD7-B141302EB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4A5619-75DA-1D6E-7AE8-A5412A706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887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E6915-910E-0FAE-4AF1-8C965011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4961D0-60C7-D74E-F025-89ACA9EE2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30B8DC-A1ED-9EC0-2599-17BFCFBDD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effectLst/>
              </a:rPr>
              <a:t>Der </a:t>
            </a:r>
            <a:r>
              <a:rPr lang="de-DE" dirty="0" err="1">
                <a:effectLst/>
              </a:rPr>
              <a:t>RezeptManager</a:t>
            </a:r>
            <a:r>
              <a:rPr lang="de-DE" dirty="0">
                <a:effectLst/>
              </a:rPr>
              <a:t> ist das Rückgrat der Anwendung. Er kapselt alle Datenoperationen und sorgt dafür, dass Rezepte auch nach dem Schließen des Programms erhalten bleiben.“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BB6340-F5D2-A567-1DCE-04AFAD8AC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191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1E4C-F4D0-D2BA-F875-0E3C7C36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71697A3-C1C9-BD42-52BA-49962083A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CAE391-D317-D6E4-FD47-9C09A97F6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effectLst/>
              </a:rPr>
              <a:t>Der </a:t>
            </a:r>
            <a:r>
              <a:rPr lang="de-DE" dirty="0" err="1">
                <a:effectLst/>
              </a:rPr>
              <a:t>RezeptManager</a:t>
            </a:r>
            <a:r>
              <a:rPr lang="de-DE" dirty="0">
                <a:effectLst/>
              </a:rPr>
              <a:t> ist das Rückgrat der Anwendung. Er kapselt alle Datenoperationen und sorgt dafür, dass Rezepte auch nach dem Schließen des Programms erhalten bleiben.“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EB9285-81F6-94D9-4134-B1237BD7E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421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A61A3-4478-1925-C595-FCE565B2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17EB83-E53B-32C4-6B33-3D5AE1B01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D70323-1B0E-6653-02B4-E0B64E915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effectLst/>
              </a:rPr>
              <a:t>„Die </a:t>
            </a:r>
            <a:r>
              <a:rPr lang="de-DE" dirty="0" err="1">
                <a:effectLst/>
              </a:rPr>
              <a:t>MainFrame</a:t>
            </a:r>
            <a:r>
              <a:rPr lang="de-DE" dirty="0">
                <a:effectLst/>
              </a:rPr>
              <a:t> ist das Herz der Benutzeroberfläche. Sie koordiniert alle sichtbaren Elemente und sorgt für eine flüssige Interaktion zwischen dem Nutzer und den gespeicherten Rezepten.“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561B07-6836-A363-1928-C6439F017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9639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9C5E7-7697-8C34-3375-2353F08E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70ECE0-95A1-DB39-394D-F354BDFCA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48AAD1-1F65-1093-1402-A6D341A5A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Aufbau und Layout der gesamten Benutzeroberfläche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Verwaltung der Rezeptliste (linke Seite) Detailansicht der Rezepte (rechte Seite) Suchfunktion und </a:t>
            </a:r>
            <a:r>
              <a:rPr lang="de-DE" dirty="0" err="1"/>
              <a:t>Kategoriefilter</a:t>
            </a:r>
            <a:r>
              <a:rPr lang="de-DE" dirty="0"/>
              <a:t> Buttons für Neues Rezept, Bearbeiten, Löschen und Import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BDFDC2-0032-CED1-6293-FAE080DDA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484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F73FA-65A3-9A18-3787-CE866EA09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57773E-996E-0CA1-2339-0A82C22CD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460BAA-D8A8-CC8B-103A-99AFBE998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ACE06C-3080-6040-0E7F-552BC8ED9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587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BD40-0DC4-61DC-B89C-84630E15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9BB495-3B58-7F0C-2374-F0B5834A2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8AD74E2-A2BE-979F-EC60-0AD175659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effectLst/>
              </a:rPr>
              <a:t>„Das </a:t>
            </a:r>
            <a:r>
              <a:rPr lang="de-DE" dirty="0" err="1">
                <a:effectLst/>
              </a:rPr>
              <a:t>RecipePanel</a:t>
            </a:r>
            <a:r>
              <a:rPr lang="de-DE" dirty="0">
                <a:effectLst/>
              </a:rPr>
              <a:t> ist die Detailansicht. Hier sieht der Nutzer alle Informationen zu einem Rezept auf einen Blick – inklusive Bild und Zubereitungsanleitung.“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94DBB8-1CAE-8B77-06B5-890C70B49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79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AC55-C8C2-8056-F71F-37D2831A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DF193E8-ECF3-1969-593B-222312C11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25811FB-642E-3F1B-12EB-ACDA4168C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FB5E2D-580A-3610-3AEC-11DCF7C49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49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47328-2141-B59D-1469-A3F01C1A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A4124F-2B2F-58C1-D2FF-A5B4881E8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C7C0A3-642D-A1D1-208A-4916A17A5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effectLst/>
              </a:rPr>
              <a:t>Der </a:t>
            </a:r>
            <a:r>
              <a:rPr lang="de-DE" dirty="0" err="1">
                <a:effectLst/>
              </a:rPr>
              <a:t>AddEditDialog</a:t>
            </a:r>
            <a:r>
              <a:rPr lang="de-DE" dirty="0">
                <a:effectLst/>
              </a:rPr>
              <a:t> ist das ‚Eingabezentrum‘ der Anwendung. Er wurde so gestaltet, dass der Nutzer schnell und komfortabel neue Rezepte anlegen oder bestehende bearbeiten kann – inklusive automatischer Bildgenerierung.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7A5245-E93D-B68A-EBD6-E5221A4BD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666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910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D2FE-6EAB-582E-7872-7CB4AD0F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7588F50-8B18-26C9-6F6F-CC79B054F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8879849-83C7-9DF5-AB34-EF563C54F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Was bedeutet „Custom </a:t>
            </a:r>
            <a:r>
              <a:rPr lang="de-DE" b="1" dirty="0" err="1"/>
              <a:t>ListCellRenderer</a:t>
            </a:r>
            <a:r>
              <a:rPr lang="de-DE" b="1" dirty="0"/>
              <a:t>“?</a:t>
            </a:r>
          </a:p>
          <a:p>
            <a:r>
              <a:rPr lang="de-DE" dirty="0"/>
              <a:t>Die normale </a:t>
            </a:r>
            <a:r>
              <a:rPr lang="de-DE" dirty="0" err="1"/>
              <a:t>JList</a:t>
            </a:r>
            <a:r>
              <a:rPr lang="de-DE" dirty="0"/>
              <a:t> zeigt standardmäßig nur den </a:t>
            </a:r>
            <a:r>
              <a:rPr lang="de-DE" dirty="0" err="1"/>
              <a:t>toString</a:t>
            </a:r>
            <a:r>
              <a:rPr lang="de-DE" dirty="0"/>
              <a:t>()-Wert eines Objekts an (bei uns nur den Titel).</a:t>
            </a:r>
          </a:p>
          <a:p>
            <a:r>
              <a:rPr lang="de-DE" dirty="0"/>
              <a:t>Mit einem </a:t>
            </a:r>
            <a:r>
              <a:rPr lang="de-DE" b="1" dirty="0"/>
              <a:t>Custom Renderer</a:t>
            </a:r>
            <a:r>
              <a:rPr lang="de-DE" dirty="0"/>
              <a:t> können wir </a:t>
            </a:r>
            <a:r>
              <a:rPr lang="de-DE" b="1" dirty="0"/>
              <a:t>jedes Listenelement individuell gestalten</a:t>
            </a:r>
            <a:r>
              <a:rPr lang="de-DE" dirty="0"/>
              <a:t> – wie eine eigene „Mini-Ansicht“ pro Rezept.</a:t>
            </a:r>
          </a:p>
          <a:p>
            <a:r>
              <a:rPr lang="de-DE" b="1" dirty="0"/>
              <a:t>Technische Umsetzung:</a:t>
            </a:r>
          </a:p>
          <a:p>
            <a:r>
              <a:rPr lang="de-DE" dirty="0"/>
              <a:t>Die Klasse überschreibt die Methode </a:t>
            </a:r>
            <a:r>
              <a:rPr lang="de-DE" dirty="0" err="1"/>
              <a:t>getListCellRendererComponent</a:t>
            </a:r>
            <a:r>
              <a:rPr lang="de-DE" dirty="0"/>
              <a:t>(...)</a:t>
            </a:r>
          </a:p>
          <a:p>
            <a:r>
              <a:rPr lang="de-DE" dirty="0"/>
              <a:t>Diese Methode wird von Swing für </a:t>
            </a:r>
            <a:r>
              <a:rPr lang="de-DE" b="1" dirty="0"/>
              <a:t>jedes</a:t>
            </a:r>
            <a:r>
              <a:rPr lang="de-DE" dirty="0"/>
              <a:t> sichtbare Listenelement aufgerufen</a:t>
            </a:r>
          </a:p>
          <a:p>
            <a:r>
              <a:rPr lang="de-DE" dirty="0"/>
              <a:t>Wir formatieren den Text mit HTML (&lt;</a:t>
            </a:r>
            <a:r>
              <a:rPr lang="de-DE" dirty="0" err="1"/>
              <a:t>html</a:t>
            </a:r>
            <a:r>
              <a:rPr lang="de-DE" dirty="0"/>
              <a:t>&gt;&lt;b&gt;Titel&lt;/b&gt;&lt;</a:t>
            </a:r>
            <a:r>
              <a:rPr lang="de-DE" dirty="0" err="1"/>
              <a:t>br</a:t>
            </a:r>
            <a:r>
              <a:rPr lang="de-DE" dirty="0"/>
              <a:t>&gt;&lt;</a:t>
            </a:r>
            <a:r>
              <a:rPr lang="de-DE" dirty="0" err="1"/>
              <a:t>small</a:t>
            </a:r>
            <a:r>
              <a:rPr lang="de-DE" dirty="0"/>
              <a:t>&gt;Kategorie • Zeit • Portionen&lt;/</a:t>
            </a:r>
            <a:r>
              <a:rPr lang="de-DE" dirty="0" err="1"/>
              <a:t>small</a:t>
            </a:r>
            <a:r>
              <a:rPr lang="de-DE" dirty="0"/>
              <a:t>&gt;&lt;/</a:t>
            </a:r>
            <a:r>
              <a:rPr lang="de-DE" dirty="0" err="1"/>
              <a:t>html</a:t>
            </a:r>
            <a:r>
              <a:rPr lang="de-DE" dirty="0"/>
              <a:t>&gt;)</a:t>
            </a:r>
          </a:p>
          <a:p>
            <a:r>
              <a:rPr lang="de-DE" dirty="0"/>
              <a:t>Unterschiedliche Hintergrundfarben für gerade/ungerade Zeilen und Auswahl</a:t>
            </a:r>
          </a:p>
          <a:p>
            <a:r>
              <a:rPr lang="de-DE" dirty="0"/>
              <a:t>Bessere Abstände und Lesbarkeit durch Border</a:t>
            </a:r>
          </a:p>
          <a:p>
            <a:r>
              <a:rPr lang="de-DE" b="1" dirty="0"/>
              <a:t>Warum wurde das gemacht?</a:t>
            </a:r>
          </a:p>
          <a:p>
            <a:r>
              <a:rPr lang="de-DE" dirty="0"/>
              <a:t>Die Standarddarstellung von Swing ist sehr schlicht und unattraktiv</a:t>
            </a:r>
          </a:p>
          <a:p>
            <a:r>
              <a:rPr lang="de-DE" dirty="0"/>
              <a:t>Bessere visuelle Hierarchie (Titel fett, Zusatzinfos kleiner)</a:t>
            </a:r>
          </a:p>
          <a:p>
            <a:r>
              <a:rPr lang="de-DE" dirty="0"/>
              <a:t>Bessere Lesbarkeit durch abwechselnde Zeilenfarben</a:t>
            </a:r>
          </a:p>
          <a:p>
            <a:r>
              <a:rPr lang="de-DE" dirty="0"/>
              <a:t>Professioneller Gesamteindruck der Anwendung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9BC627-B22B-BA33-2B39-3EF45364F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042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4DC2D-D63C-F92A-EA06-70C85A66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BC650F0-1307-169F-4940-594FF5493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3CE040F-6A21-0951-E43E-A167F3A60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Wichtige Aufgaben:</a:t>
            </a:r>
          </a:p>
          <a:p>
            <a:r>
              <a:rPr lang="de-DE" dirty="0"/>
              <a:t>Erstellung eines optimierten Prompts aus dem Rezepttitel</a:t>
            </a:r>
          </a:p>
          <a:p>
            <a:r>
              <a:rPr lang="de-DE" dirty="0"/>
              <a:t>Senden von HTTP-POST-Anfragen an die </a:t>
            </a:r>
            <a:r>
              <a:rPr lang="de-DE" dirty="0" err="1"/>
              <a:t>fal.ai</a:t>
            </a:r>
            <a:r>
              <a:rPr lang="de-DE" dirty="0"/>
              <a:t> API</a:t>
            </a:r>
          </a:p>
          <a:p>
            <a:r>
              <a:rPr lang="de-DE" dirty="0"/>
              <a:t>Verarbeitung der JSON-Antwort (Extraktion der Bild-URL)</a:t>
            </a:r>
          </a:p>
          <a:p>
            <a:r>
              <a:rPr lang="de-DE" dirty="0"/>
              <a:t>Herunterladen und lokales Speichern des generierten Bildes</a:t>
            </a:r>
          </a:p>
          <a:p>
            <a:r>
              <a:rPr lang="de-DE" dirty="0"/>
              <a:t>Rückgabe des Dateipfads an das Rezept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97C9E6-B110-074B-B96B-15D6E7D5F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E57A4-250C-CA45-8814-8E5928731B4F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02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F041103-AEE7-9F4D-8584-C208E14399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1480" y="1828482"/>
            <a:ext cx="593932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9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en-US" dirty="0"/>
              <a:t>Presentation title</a:t>
            </a:r>
            <a:endParaRPr lang="en-NO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1859404-2131-4B4D-AD7D-8D538108EB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1480" y="4261962"/>
            <a:ext cx="5939319" cy="720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Sub title</a:t>
            </a:r>
          </a:p>
        </p:txBody>
      </p:sp>
      <p:cxnSp>
        <p:nvCxnSpPr>
          <p:cNvPr id="22" name="Straight Connector 9">
            <a:extLst>
              <a:ext uri="{FF2B5EF4-FFF2-40B4-BE49-F238E27FC236}">
                <a16:creationId xmlns:a16="http://schemas.microsoft.com/office/drawing/2014/main" id="{6143501F-E303-70E5-55A0-484F842ADF3A}"/>
              </a:ext>
            </a:extLst>
          </p:cNvPr>
          <p:cNvCxnSpPr>
            <a:cxnSpLocks/>
          </p:cNvCxnSpPr>
          <p:nvPr/>
        </p:nvCxnSpPr>
        <p:spPr>
          <a:xfrm>
            <a:off x="571350" y="4904731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D74F83A5-9477-197C-9DA7-42B885D14E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7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8CC9898-1881-D26C-0E69-E083563851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5169" y="3628308"/>
            <a:ext cx="10127411" cy="720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Sub </a:t>
            </a:r>
            <a:r>
              <a:rPr lang="de-DE" dirty="0" err="1"/>
              <a:t>titel</a:t>
            </a:r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D7EF4-4808-A349-83FF-A1D149866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5169" y="1232145"/>
            <a:ext cx="10127411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9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en-US" dirty="0"/>
              <a:t>Presentation title</a:t>
            </a:r>
            <a:endParaRPr lang="en-NO" dirty="0"/>
          </a:p>
        </p:txBody>
      </p:sp>
      <p:cxnSp>
        <p:nvCxnSpPr>
          <p:cNvPr id="12" name="Straight Connector 9">
            <a:extLst>
              <a:ext uri="{FF2B5EF4-FFF2-40B4-BE49-F238E27FC236}">
                <a16:creationId xmlns:a16="http://schemas.microsoft.com/office/drawing/2014/main" id="{C39485F2-B69A-6C8F-89FE-903674D6A017}"/>
              </a:ext>
            </a:extLst>
          </p:cNvPr>
          <p:cNvCxnSpPr>
            <a:cxnSpLocks/>
          </p:cNvCxnSpPr>
          <p:nvPr/>
        </p:nvCxnSpPr>
        <p:spPr>
          <a:xfrm>
            <a:off x="5738874" y="4285853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3DBF18D5-682D-67FA-9755-05A0C83EB3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E39624-5FC1-FCCE-ED59-4BBBFC97E7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2_orange">
    <p:bg>
      <p:bgPr>
        <a:solidFill>
          <a:srgbClr val="DFCFCA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8CC9898-1881-D26C-0E69-E083563851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5169" y="3628308"/>
            <a:ext cx="10127411" cy="720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Sub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D7EF4-4808-A349-83FF-A1D149866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5169" y="1232145"/>
            <a:ext cx="10127411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9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en-US" dirty="0"/>
              <a:t>Presentation title</a:t>
            </a:r>
            <a:endParaRPr lang="en-NO" dirty="0"/>
          </a:p>
        </p:txBody>
      </p:sp>
      <p:cxnSp>
        <p:nvCxnSpPr>
          <p:cNvPr id="12" name="Straight Connector 9">
            <a:extLst>
              <a:ext uri="{FF2B5EF4-FFF2-40B4-BE49-F238E27FC236}">
                <a16:creationId xmlns:a16="http://schemas.microsoft.com/office/drawing/2014/main" id="{C39485F2-B69A-6C8F-89FE-903674D6A017}"/>
              </a:ext>
            </a:extLst>
          </p:cNvPr>
          <p:cNvCxnSpPr>
            <a:cxnSpLocks/>
          </p:cNvCxnSpPr>
          <p:nvPr/>
        </p:nvCxnSpPr>
        <p:spPr>
          <a:xfrm>
            <a:off x="5738874" y="4285853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3DBF18D5-682D-67FA-9755-05A0C83EB3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34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E25ADC-649E-7147-A938-08D5C9C9F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NO" sz="4000" b="0" i="0" kern="1200" dirty="0">
                <a:solidFill>
                  <a:schemeClr val="tx2"/>
                </a:solidFill>
                <a:latin typeface="SangBleu OG Sans" panose="020B0504000000000000" pitchFamily="34" charset="0"/>
                <a:ea typeface="+mj-ea"/>
                <a:cs typeface="+mj-cs"/>
              </a:defRPr>
            </a:lvl1pPr>
          </a:lstStyle>
          <a:p>
            <a:r>
              <a:rPr lang="de-DE" dirty="0" err="1"/>
              <a:t>Section</a:t>
            </a:r>
            <a:r>
              <a:rPr lang="de-DE" dirty="0"/>
              <a:t> title</a:t>
            </a:r>
            <a:endParaRPr lang="en-NO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563898-0396-CE4B-B938-6D3747D7AD1B}"/>
              </a:ext>
            </a:extLst>
          </p:cNvPr>
          <p:cNvCxnSpPr>
            <a:cxnSpLocks/>
          </p:cNvCxnSpPr>
          <p:nvPr/>
        </p:nvCxnSpPr>
        <p:spPr>
          <a:xfrm>
            <a:off x="5736000" y="3988269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liennummernplatzhalter 4">
            <a:extLst>
              <a:ext uri="{FF2B5EF4-FFF2-40B4-BE49-F238E27FC236}">
                <a16:creationId xmlns:a16="http://schemas.microsoft.com/office/drawing/2014/main" id="{14DF2101-C3D7-3187-0A68-7ADA12EE8B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Grafik 5" descr="Ein Bild, das Schwarz, Dunkelheit, Screenshot enthält.&#10;&#10;Automatisch generierte Beschreibung">
            <a:extLst>
              <a:ext uri="{FF2B5EF4-FFF2-40B4-BE49-F238E27FC236}">
                <a16:creationId xmlns:a16="http://schemas.microsoft.com/office/drawing/2014/main" id="{AD8303C5-1AB7-F59B-D545-F50E0EC3FC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0651" y="215575"/>
            <a:ext cx="1160900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5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 1_orange">
    <p:bg>
      <p:bgPr>
        <a:solidFill>
          <a:srgbClr val="DFCFCA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E25ADC-649E-7147-A938-08D5C9C9F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NO" sz="4000" b="0" i="0" kern="1200" dirty="0">
                <a:solidFill>
                  <a:schemeClr val="tx2"/>
                </a:solidFill>
                <a:latin typeface="SangBleu OG Sans" panose="020B0504000000000000" pitchFamily="34" charset="0"/>
                <a:ea typeface="+mj-ea"/>
                <a:cs typeface="+mj-cs"/>
              </a:defRPr>
            </a:lvl1pPr>
          </a:lstStyle>
          <a:p>
            <a:r>
              <a:rPr lang="de-DE" dirty="0" err="1"/>
              <a:t>Section</a:t>
            </a:r>
            <a:r>
              <a:rPr lang="de-DE" dirty="0"/>
              <a:t> title</a:t>
            </a:r>
            <a:endParaRPr lang="en-NO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563898-0396-CE4B-B938-6D3747D7AD1B}"/>
              </a:ext>
            </a:extLst>
          </p:cNvPr>
          <p:cNvCxnSpPr>
            <a:cxnSpLocks/>
          </p:cNvCxnSpPr>
          <p:nvPr/>
        </p:nvCxnSpPr>
        <p:spPr>
          <a:xfrm>
            <a:off x="5736000" y="3988269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liennummernplatzhalter 4">
            <a:extLst>
              <a:ext uri="{FF2B5EF4-FFF2-40B4-BE49-F238E27FC236}">
                <a16:creationId xmlns:a16="http://schemas.microsoft.com/office/drawing/2014/main" id="{14DF2101-C3D7-3187-0A68-7ADA12EE8B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18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9B358-C663-43F6-2C46-84EF6861E81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7139" y="1457867"/>
            <a:ext cx="11505786" cy="4648262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3pPr>
            <a:lvl4pPr marL="16002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D3B20-DCF0-454F-BA3E-73F34767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298724"/>
            <a:ext cx="10449985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11E02B-6BAF-7344-8C49-9F754FD91754}"/>
              </a:ext>
            </a:extLst>
          </p:cNvPr>
          <p:cNvCxnSpPr>
            <a:cxnSpLocks/>
          </p:cNvCxnSpPr>
          <p:nvPr/>
        </p:nvCxnSpPr>
        <p:spPr>
          <a:xfrm>
            <a:off x="577697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178A7994-973E-3290-91F0-C9540DD57B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2EEFFB-3F78-DF27-3AD5-7B46ECF2AA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7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658E76-5A66-F043-85E0-DDB5CE498D9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7139" y="1457867"/>
            <a:ext cx="5628861" cy="4648262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3pPr>
            <a:lvl4pPr marL="16002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O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3FCE2F-A97D-D341-BA9B-99D99BA5D60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5999" y="1457867"/>
            <a:ext cx="5876926" cy="4648262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3pPr>
            <a:lvl4pPr marL="16002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O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21B7BE-74A7-38E4-8AAB-20F6C4575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298724"/>
            <a:ext cx="10449985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72E7F-3CB6-A3E5-4641-E016C4698551}"/>
              </a:ext>
            </a:extLst>
          </p:cNvPr>
          <p:cNvCxnSpPr>
            <a:cxnSpLocks/>
          </p:cNvCxnSpPr>
          <p:nvPr/>
        </p:nvCxnSpPr>
        <p:spPr>
          <a:xfrm>
            <a:off x="577697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AA28490A-ADFA-4260-C02B-E5EDB3B665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73B10CA-419A-76B4-AF7C-A9E07B583D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5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C6D46E52-108E-3641-810A-1D2F6D4D8CFB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61479" y="2384599"/>
            <a:ext cx="3492917" cy="2700779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en-NO" dirty="0"/>
          </a:p>
        </p:txBody>
      </p:sp>
      <p:sp>
        <p:nvSpPr>
          <p:cNvPr id="12" name="Chart Placeholder 8">
            <a:extLst>
              <a:ext uri="{FF2B5EF4-FFF2-40B4-BE49-F238E27FC236}">
                <a16:creationId xmlns:a16="http://schemas.microsoft.com/office/drawing/2014/main" id="{918BAF80-8BA3-0B35-9078-50BDA8D29823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470744" y="2384599"/>
            <a:ext cx="3492917" cy="2700779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en-NO" dirty="0"/>
          </a:p>
        </p:txBody>
      </p:sp>
      <p:sp>
        <p:nvSpPr>
          <p:cNvPr id="14" name="Chart Placeholder 8">
            <a:extLst>
              <a:ext uri="{FF2B5EF4-FFF2-40B4-BE49-F238E27FC236}">
                <a16:creationId xmlns:a16="http://schemas.microsoft.com/office/drawing/2014/main" id="{D37E5CC6-F802-6759-6C3C-17A1F2ED787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8480008" y="2384599"/>
            <a:ext cx="3492917" cy="2700779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en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00845-E263-3A9F-E6FE-628EA3246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298724"/>
            <a:ext cx="10449985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4993A964-D6D6-50BC-EC1B-DAEBCB663B95}"/>
              </a:ext>
            </a:extLst>
          </p:cNvPr>
          <p:cNvCxnSpPr>
            <a:cxnSpLocks/>
          </p:cNvCxnSpPr>
          <p:nvPr/>
        </p:nvCxnSpPr>
        <p:spPr>
          <a:xfrm>
            <a:off x="577697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liennummernplatzhalter 4">
            <a:extLst>
              <a:ext uri="{FF2B5EF4-FFF2-40B4-BE49-F238E27FC236}">
                <a16:creationId xmlns:a16="http://schemas.microsoft.com/office/drawing/2014/main" id="{AA5C5BC8-7980-AF40-8824-AC4C32160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63102A2-8CA9-87E4-55E1-95C05A137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2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E01DE0E-2A9F-E520-1146-9D09DBD31A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298724"/>
            <a:ext cx="11315286" cy="92378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12" name="Straight Connector 4">
            <a:extLst>
              <a:ext uri="{FF2B5EF4-FFF2-40B4-BE49-F238E27FC236}">
                <a16:creationId xmlns:a16="http://schemas.microsoft.com/office/drawing/2014/main" id="{190E02E1-28F7-02C7-7ED1-15DB58691BF8}"/>
              </a:ext>
            </a:extLst>
          </p:cNvPr>
          <p:cNvCxnSpPr>
            <a:cxnSpLocks/>
          </p:cNvCxnSpPr>
          <p:nvPr/>
        </p:nvCxnSpPr>
        <p:spPr>
          <a:xfrm>
            <a:off x="5764782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CD2C8533-496F-115C-C4E8-0884391CF7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B1B0D82-A71B-4874-BEE2-2D3C68B0BB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5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4A2B1E-B768-4244-8A86-071314847599}"/>
              </a:ext>
            </a:extLst>
          </p:cNvPr>
          <p:cNvSpPr/>
          <p:nvPr/>
        </p:nvSpPr>
        <p:spPr>
          <a:xfrm>
            <a:off x="-8312" y="3734"/>
            <a:ext cx="4471967" cy="6854266"/>
          </a:xfrm>
          <a:prstGeom prst="rect">
            <a:avLst/>
          </a:prstGeom>
          <a:solidFill>
            <a:srgbClr val="DFCFC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E25ADC-649E-7147-A938-08D5C9C9F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9" y="3163033"/>
            <a:ext cx="3881921" cy="93451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B1F627-05ED-C04B-925E-CE34BE885788}"/>
              </a:ext>
            </a:extLst>
          </p:cNvPr>
          <p:cNvCxnSpPr>
            <a:cxnSpLocks/>
          </p:cNvCxnSpPr>
          <p:nvPr/>
        </p:nvCxnSpPr>
        <p:spPr>
          <a:xfrm>
            <a:off x="564888" y="4093389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4639B8AC-2B58-BD79-0FEC-D5ECEAE74F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2AD5D3F-FA01-9D01-751D-72E3B2F3390F}"/>
              </a:ext>
            </a:extLst>
          </p:cNvPr>
          <p:cNvSpPr/>
          <p:nvPr/>
        </p:nvSpPr>
        <p:spPr>
          <a:xfrm>
            <a:off x="461480" y="6356350"/>
            <a:ext cx="2740179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900" dirty="0">
                <a:solidFill>
                  <a:schemeClr val="tx2"/>
                </a:solidFill>
                <a:latin typeface="SangBleu OG Sans Light" panose="020B0304000000000000" pitchFamily="34" charset="0"/>
              </a:rPr>
              <a:t>Horze Group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F35C491-73FE-67CF-5CBE-ED6BBC12BB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5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Slide_photo right 1_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8A03279-2EAD-E74D-9A4B-D1E326AE8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85098" y="0"/>
            <a:ext cx="4406901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NO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F6DEF8-DFB3-D729-DC4F-B5CF05B75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9" y="298724"/>
            <a:ext cx="7209644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A08A3B33-CECA-AA56-F36F-350FF850CBC9}"/>
              </a:ext>
            </a:extLst>
          </p:cNvPr>
          <p:cNvCxnSpPr>
            <a:cxnSpLocks/>
          </p:cNvCxnSpPr>
          <p:nvPr/>
        </p:nvCxnSpPr>
        <p:spPr>
          <a:xfrm>
            <a:off x="560445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F4A229F3-74FD-CA43-F949-9C4603655C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D22EE-FA40-18D6-3A4E-199B35E6F5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4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Slide_photo right 1_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8A03279-2EAD-E74D-9A4B-D1E326AE8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85098" y="0"/>
            <a:ext cx="440690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NO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1B6F224-C56A-D5C0-1CA9-149192F4C0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1978" y="213639"/>
            <a:ext cx="564167" cy="54504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6C2318-0BCC-6260-EFF0-CB557B30D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9" y="298724"/>
            <a:ext cx="7209644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5676E7-E5EB-C34E-61CE-BEBF571E199B}"/>
              </a:ext>
            </a:extLst>
          </p:cNvPr>
          <p:cNvCxnSpPr>
            <a:cxnSpLocks/>
          </p:cNvCxnSpPr>
          <p:nvPr/>
        </p:nvCxnSpPr>
        <p:spPr>
          <a:xfrm>
            <a:off x="560445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67D28903-7DB2-1EFA-7C91-5940593E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46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photo right 2_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735C0BE-096B-4A40-8F88-4761F15A1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85098" y="0"/>
            <a:ext cx="440690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NO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99F562-562D-E7A8-D996-5168AE9B6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298724"/>
            <a:ext cx="7203984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C729284F-3869-B03C-20D3-521EC446F12D}"/>
              </a:ext>
            </a:extLst>
          </p:cNvPr>
          <p:cNvCxnSpPr>
            <a:cxnSpLocks/>
          </p:cNvCxnSpPr>
          <p:nvPr/>
        </p:nvCxnSpPr>
        <p:spPr>
          <a:xfrm>
            <a:off x="577697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81278F63-5E96-07A4-68AD-56D46F65B3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BCC0398-CA3C-FEB6-7976-9B39F365D4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A717BEA-1470-1C78-499A-0EFED219F06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7139" y="1457867"/>
            <a:ext cx="7203984" cy="4685750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3pPr>
            <a:lvl4pPr marL="16002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15360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photo right 2_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735C0BE-096B-4A40-8F88-4761F15A1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85098" y="0"/>
            <a:ext cx="440690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NO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D23F32-185B-6875-AAC4-88B84317D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298724"/>
            <a:ext cx="7203984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9" name="Straight Connector 4">
            <a:extLst>
              <a:ext uri="{FF2B5EF4-FFF2-40B4-BE49-F238E27FC236}">
                <a16:creationId xmlns:a16="http://schemas.microsoft.com/office/drawing/2014/main" id="{03535752-F798-8D07-FF02-F5F3BCF0DC2C}"/>
              </a:ext>
            </a:extLst>
          </p:cNvPr>
          <p:cNvCxnSpPr>
            <a:cxnSpLocks/>
          </p:cNvCxnSpPr>
          <p:nvPr/>
        </p:nvCxnSpPr>
        <p:spPr>
          <a:xfrm>
            <a:off x="577697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8CDD6B12-68C8-5F82-B319-2698800D7C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AD48505-AA33-4906-4D33-CEB1274198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1978" y="213639"/>
            <a:ext cx="564167" cy="5450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D75C-66E4-E43C-40BE-C134A3B39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7139" y="1457867"/>
            <a:ext cx="7203984" cy="4685750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3pPr>
            <a:lvl4pPr marL="16002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24312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photo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6E1562B-6A2E-6946-BCC5-CA43E9A8C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0"/>
            <a:ext cx="4421986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ECE4-2EAE-E8F1-954E-FA4445E88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1547" y="298724"/>
            <a:ext cx="6395577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6FE931-1D2C-E018-8B2D-7F88647E4887}"/>
              </a:ext>
            </a:extLst>
          </p:cNvPr>
          <p:cNvCxnSpPr>
            <a:cxnSpLocks/>
          </p:cNvCxnSpPr>
          <p:nvPr/>
        </p:nvCxnSpPr>
        <p:spPr>
          <a:xfrm>
            <a:off x="4632105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C842CC9C-1C55-8665-D4C9-921D92EB78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A6D06AA-C483-A295-2928-0D2D25038582}"/>
              </a:ext>
            </a:extLst>
          </p:cNvPr>
          <p:cNvSpPr/>
          <p:nvPr/>
        </p:nvSpPr>
        <p:spPr>
          <a:xfrm>
            <a:off x="461480" y="6356350"/>
            <a:ext cx="2740179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900" dirty="0">
                <a:solidFill>
                  <a:schemeClr val="tx2"/>
                </a:solidFill>
                <a:latin typeface="SangBleu OG Sans Light" panose="020B0304000000000000" pitchFamily="34" charset="0"/>
              </a:rPr>
              <a:t>Horze Group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D26919D-BD57-D3AE-82D0-313605E087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8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photo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6E1562B-6A2E-6946-BCC5-CA43E9A8C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0"/>
            <a:ext cx="4421986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2CB48-6052-A038-0C5C-6064C71882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1547" y="298724"/>
            <a:ext cx="6395577" cy="923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solidFill>
                  <a:schemeClr val="tx2"/>
                </a:solidFill>
                <a:latin typeface="SangBleu OG Sans" panose="020B0504000000000000" pitchFamily="34" charset="0"/>
              </a:defRPr>
            </a:lvl1pPr>
          </a:lstStyle>
          <a:p>
            <a:r>
              <a:rPr lang="de-DE" dirty="0"/>
              <a:t>Content </a:t>
            </a:r>
            <a:r>
              <a:rPr lang="de-DE" dirty="0" err="1"/>
              <a:t>slide</a:t>
            </a:r>
            <a:endParaRPr lang="en-NO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AEB8C7-A144-4811-8CD3-4F5A3E44902D}"/>
              </a:ext>
            </a:extLst>
          </p:cNvPr>
          <p:cNvCxnSpPr>
            <a:cxnSpLocks/>
          </p:cNvCxnSpPr>
          <p:nvPr/>
        </p:nvCxnSpPr>
        <p:spPr>
          <a:xfrm>
            <a:off x="4632105" y="1228177"/>
            <a:ext cx="72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liennummernplatzhalter 4">
            <a:extLst>
              <a:ext uri="{FF2B5EF4-FFF2-40B4-BE49-F238E27FC236}">
                <a16:creationId xmlns:a16="http://schemas.microsoft.com/office/drawing/2014/main" id="{7B3287F3-CBB6-DCF4-B7AD-9052B67DCD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6B9BE11-E073-0ECD-43CA-76CD20DF82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A9A51-E083-BBDE-854C-497BADDBBE8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521547" y="1457866"/>
            <a:ext cx="7451378" cy="4695283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3pPr>
            <a:lvl4pPr marL="16002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63455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35C0E9A4-3364-314E-93A1-72AA1096A4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FC21B0E-542E-FD55-6F54-F5631A8A53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1119017" y="215575"/>
            <a:ext cx="564167" cy="5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7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Slide">
    <p:bg>
      <p:bgPr>
        <a:solidFill>
          <a:srgbClr val="DFCFCA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35C0E9A4-3364-314E-93A1-72AA1096A4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F671FF-9A8E-52D1-40B6-9D1E7C154EB0}"/>
              </a:ext>
            </a:extLst>
          </p:cNvPr>
          <p:cNvSpPr/>
          <p:nvPr/>
        </p:nvSpPr>
        <p:spPr>
          <a:xfrm>
            <a:off x="2959100" y="2197265"/>
            <a:ext cx="6273800" cy="1199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dirty="0">
                <a:solidFill>
                  <a:schemeClr val="tx2"/>
                </a:solidFill>
                <a:latin typeface="SangBleu OG Sans" panose="020B0504000000000000" pitchFamily="34" charset="0"/>
              </a:rPr>
              <a:t>Thank you </a:t>
            </a:r>
            <a:r>
              <a:rPr lang="de-DE" sz="3600" dirty="0" err="1">
                <a:solidFill>
                  <a:schemeClr val="tx2"/>
                </a:solidFill>
                <a:latin typeface="SangBleu OG Sans" panose="020B0504000000000000" pitchFamily="34" charset="0"/>
              </a:rPr>
              <a:t>for</a:t>
            </a:r>
            <a:r>
              <a:rPr lang="de-DE" sz="3600" dirty="0">
                <a:solidFill>
                  <a:schemeClr val="tx2"/>
                </a:solidFill>
                <a:latin typeface="SangBleu OG Sans" panose="020B0504000000000000" pitchFamily="34" charset="0"/>
              </a:rPr>
              <a:t> your </a:t>
            </a:r>
            <a:r>
              <a:rPr lang="de-DE" sz="3600" dirty="0" err="1">
                <a:solidFill>
                  <a:schemeClr val="tx2"/>
                </a:solidFill>
                <a:latin typeface="SangBleu OG Sans" panose="020B0504000000000000" pitchFamily="34" charset="0"/>
              </a:rPr>
              <a:t>attention</a:t>
            </a:r>
            <a:endParaRPr lang="de-DE" sz="3600" dirty="0">
              <a:solidFill>
                <a:schemeClr val="tx2"/>
              </a:solidFill>
              <a:latin typeface="SangBleu OG Sans" panose="020B0504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4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7A22B-777B-5C4A-B173-B8AE5BA1E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479" y="1825625"/>
            <a:ext cx="115114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First level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O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12A45939-2F1B-8146-84FC-70C34907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79" y="196056"/>
            <a:ext cx="11511446" cy="153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 </a:t>
            </a:r>
            <a:r>
              <a:rPr lang="de-DE" dirty="0" err="1"/>
              <a:t>titel</a:t>
            </a:r>
            <a:br>
              <a:rPr lang="de-DE" dirty="0"/>
            </a:br>
            <a:r>
              <a:rPr lang="de-DE" dirty="0"/>
              <a:t>2nd </a:t>
            </a:r>
            <a:r>
              <a:rPr lang="de-DE" dirty="0" err="1"/>
              <a:t>line</a:t>
            </a:r>
            <a:endParaRPr lang="en-NO" dirty="0"/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DE10E771-85C3-A252-0353-8289FF0CA1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229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SangBleu OG Sans Light" panose="020B0304000000000000" pitchFamily="34" charset="0"/>
              </a:defRPr>
            </a:lvl1pPr>
          </a:lstStyle>
          <a:p>
            <a:fld id="{8E6C89C6-3C4F-0249-B0A8-7E91A16C19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3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SangBleu OG Sans" panose="020B0504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Cera Pr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Cera Pr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Cera Pr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Cera Pr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Cera Pr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5738EA1-FBD7-46B4-F363-E9400075E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Java-Swing-Anwendung mit Flux-Bildgenerierung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E78883-C218-E542-EBCF-08FDA325E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Kochbuch mit grafischer Benutzeroberfläche und KI-Bildgenerierung</a:t>
            </a:r>
          </a:p>
        </p:txBody>
      </p:sp>
    </p:spTree>
    <p:extLst>
      <p:ext uri="{BB962C8B-B14F-4D97-AF65-F5344CB8AC3E}">
        <p14:creationId xmlns:p14="http://schemas.microsoft.com/office/powerpoint/2010/main" val="210016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24DA49-11B2-5AFB-4CD2-7F508ED4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Anforderungsanalyse</a:t>
            </a:r>
          </a:p>
        </p:txBody>
      </p:sp>
    </p:spTree>
    <p:extLst>
      <p:ext uri="{BB962C8B-B14F-4D97-AF65-F5344CB8AC3E}">
        <p14:creationId xmlns:p14="http://schemas.microsoft.com/office/powerpoint/2010/main" val="360483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A802AC1B-0FA9-2B5E-780C-3D22899A59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06" b="306"/>
          <a:stretch>
            <a:fillRect/>
          </a:stretch>
        </p:blipFill>
        <p:spPr>
          <a:xfrm>
            <a:off x="0" y="298724"/>
            <a:ext cx="4421986" cy="655927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575848EC-7F91-69F5-700B-A56AF10A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Funktionale Anforderungen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D0C52A-9B51-44CC-5C61-7AD44855B30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Anlegen, Bearbeiten und Löschen von Rezepten</a:t>
            </a:r>
          </a:p>
          <a:p>
            <a:r>
              <a:rPr lang="de-DE" dirty="0"/>
              <a:t>Strukturierte Erfassung von Titel, Kategorie, Zutaten, Zubereitung, Portionen und Zubereitungszeit</a:t>
            </a:r>
          </a:p>
          <a:p>
            <a:r>
              <a:rPr lang="de-DE" dirty="0"/>
              <a:t>Suche nach Rezepten (nach Titel und Zutaten)</a:t>
            </a:r>
          </a:p>
          <a:p>
            <a:r>
              <a:rPr lang="de-DE" dirty="0"/>
              <a:t>Filterung nach Kategorien</a:t>
            </a:r>
          </a:p>
          <a:p>
            <a:r>
              <a:rPr lang="de-DE" dirty="0"/>
              <a:t>Zu jedem Rezept kann ein Bild hinzugefügt werden</a:t>
            </a:r>
          </a:p>
          <a:p>
            <a:r>
              <a:rPr lang="de-DE" dirty="0"/>
              <a:t>Rezepte werden dauerhaft gespeichert</a:t>
            </a:r>
          </a:p>
          <a:p>
            <a:r>
              <a:rPr lang="de-DE" dirty="0"/>
              <a:t>Rezepte können importiert werden</a:t>
            </a:r>
          </a:p>
        </p:txBody>
      </p:sp>
    </p:spTree>
    <p:extLst>
      <p:ext uri="{BB962C8B-B14F-4D97-AF65-F5344CB8AC3E}">
        <p14:creationId xmlns:p14="http://schemas.microsoft.com/office/powerpoint/2010/main" val="18065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62754-64CE-CFAC-E71E-4D9F3C91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9013220-CF18-88F9-574C-7E27C98C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Nicht-funktionale Anforderungen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DE92FD-B818-052D-66D4-8DE7713F242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Plattformunabhängigkeit durch Java</a:t>
            </a:r>
          </a:p>
          <a:p>
            <a:r>
              <a:rPr lang="de-DE" dirty="0"/>
              <a:t>Intuitive und übersichtliche Benutzeroberfläche</a:t>
            </a:r>
          </a:p>
          <a:p>
            <a:r>
              <a:rPr lang="de-DE" dirty="0"/>
              <a:t>Schnelle Reaktionszeit der GUI auch während der Bildgenerierung</a:t>
            </a:r>
          </a:p>
          <a:p>
            <a:r>
              <a:rPr lang="de-DE" dirty="0"/>
              <a:t>Erweiterbarkeit durch klare Codestruktur (MVC-Prinzip)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6B786668-1EE9-1D97-A43B-6F28922661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61" r="1961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42434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EEE7-F9CB-0AC1-012E-9D5E33E3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D6EA2-0679-1A53-0D30-175E78AE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Technologie-Stack</a:t>
            </a:r>
          </a:p>
        </p:txBody>
      </p:sp>
    </p:spTree>
    <p:extLst>
      <p:ext uri="{BB962C8B-B14F-4D97-AF65-F5344CB8AC3E}">
        <p14:creationId xmlns:p14="http://schemas.microsoft.com/office/powerpoint/2010/main" val="152223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FDE3-1823-E561-AE99-E668F94D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874129E-85D6-FE39-9A29-EA98F41E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Technologie-Stack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147A52-8349-BDF0-1D55-CF67B3AD319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Programmiersprache und Kerntechnologien</a:t>
            </a:r>
          </a:p>
          <a:p>
            <a:pPr lvl="1"/>
            <a:r>
              <a:rPr lang="de-DE" dirty="0"/>
              <a:t>Java 26</a:t>
            </a:r>
          </a:p>
          <a:p>
            <a:pPr lvl="1"/>
            <a:r>
              <a:rPr lang="de-DE" dirty="0"/>
              <a:t>Java Swing</a:t>
            </a:r>
          </a:p>
          <a:p>
            <a:pPr lvl="1"/>
            <a:r>
              <a:rPr lang="de-DE" dirty="0" err="1"/>
              <a:t>Gson</a:t>
            </a:r>
            <a:endParaRPr lang="de-DE" dirty="0"/>
          </a:p>
          <a:p>
            <a:r>
              <a:rPr lang="de-DE" dirty="0"/>
              <a:t>Bildgenerierung</a:t>
            </a:r>
          </a:p>
          <a:p>
            <a:pPr lvl="1"/>
            <a:r>
              <a:rPr lang="de-DE" dirty="0"/>
              <a:t>Flux Dev/Pro</a:t>
            </a:r>
          </a:p>
          <a:p>
            <a:pPr lvl="1"/>
            <a:r>
              <a:rPr lang="de-DE" dirty="0" err="1"/>
              <a:t>Fal.ai</a:t>
            </a:r>
            <a:r>
              <a:rPr lang="de-DE" dirty="0"/>
              <a:t> API</a:t>
            </a:r>
          </a:p>
          <a:p>
            <a:r>
              <a:rPr lang="de-DE" dirty="0"/>
              <a:t>Entwicklungsumgebung</a:t>
            </a:r>
          </a:p>
          <a:p>
            <a:pPr lvl="1"/>
            <a:r>
              <a:rPr lang="de-DE" dirty="0" err="1"/>
              <a:t>Eclipse</a:t>
            </a:r>
            <a:r>
              <a:rPr lang="de-DE" dirty="0"/>
              <a:t> IDE mit JDK 26</a:t>
            </a:r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290BE2BD-EAC5-EA14-3D91-F740B80EAB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961" r="1961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49371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DDC0-1625-4260-5CA1-005CD9AF1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4F5FA-1F7D-BFB6-0DAD-2C0DDD79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</p:spTree>
    <p:extLst>
      <p:ext uri="{BB962C8B-B14F-4D97-AF65-F5344CB8AC3E}">
        <p14:creationId xmlns:p14="http://schemas.microsoft.com/office/powerpoint/2010/main" val="373184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8BB4-18B6-5072-F227-9DC30D79B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0E10F3F-B757-32C0-6794-2216A854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Ordner- und </a:t>
            </a:r>
            <a:r>
              <a:rPr lang="de-DE" dirty="0" err="1"/>
              <a:t>Packagestruktur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3265A5-5F53-A25C-7C06-60932BE0D41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67EC73FF-4934-4B48-6DE9-2AD5F3E3D90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41188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B3A13-454A-B94C-91BD-27162844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0B192B7-2CD0-6CB5-8677-4679CE46C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Main.java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E3F3ECB-AF74-4F8C-6152-D8FD5E2482B8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5383212" y="2611437"/>
            <a:ext cx="5727700" cy="2387600"/>
          </a:xfrm>
          <a:prstGeom prst="rect">
            <a:avLst/>
          </a:prstGeom>
        </p:spPr>
      </p:pic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3B048A9F-E6F9-58A1-9B57-70D653CDF4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0862DB43-356D-C6AA-BB60-61E1372EA75D}"/>
              </a:ext>
            </a:extLst>
          </p:cNvPr>
          <p:cNvSpPr/>
          <p:nvPr/>
        </p:nvSpPr>
        <p:spPr>
          <a:xfrm>
            <a:off x="1068309" y="2172832"/>
            <a:ext cx="1104523" cy="307818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902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5BB2B-A829-EEFF-984A-4D99CDF2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4EEFA71-9BE2-CF2A-6D29-1BC1EF17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Rezept.java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BF46125B-FD37-68BF-2C9B-6E418E6D30B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rcRect/>
          <a:stretch/>
        </p:blipFill>
        <p:spPr>
          <a:xfrm>
            <a:off x="4521547" y="1134736"/>
            <a:ext cx="7174669" cy="5167020"/>
          </a:xfrm>
          <a:prstGeom prst="rect">
            <a:avLst/>
          </a:prstGeom>
        </p:spPr>
      </p:pic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3EFC1BEB-1188-D8EF-B7BE-D757002679B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F75588C0-5CA3-A9BF-C368-901BFB710FCA}"/>
              </a:ext>
            </a:extLst>
          </p:cNvPr>
          <p:cNvSpPr/>
          <p:nvPr/>
        </p:nvSpPr>
        <p:spPr>
          <a:xfrm>
            <a:off x="1679304" y="2921979"/>
            <a:ext cx="1239019" cy="307818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7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D1E33-40C3-EECB-5A8D-0B6CF301D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1107B84-5537-1D25-F2D1-E2A5B8BC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Rezept.java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0E2176EE-059F-4D86-33FB-A3045D236BD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55AB87B-5561-2CA9-2FE3-8B208E0635AE}"/>
              </a:ext>
            </a:extLst>
          </p:cNvPr>
          <p:cNvSpPr/>
          <p:nvPr/>
        </p:nvSpPr>
        <p:spPr>
          <a:xfrm>
            <a:off x="1669434" y="2921978"/>
            <a:ext cx="1239019" cy="307818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DB269A5-E2BB-5108-1EF4-00E2DA6A17E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b="1" dirty="0"/>
              <a:t>Zentrale Datenklasse</a:t>
            </a:r>
            <a:r>
              <a:rPr lang="de-DE" dirty="0"/>
              <a:t> des gesamten Projekts </a:t>
            </a:r>
          </a:p>
          <a:p>
            <a:r>
              <a:rPr lang="de-DE" dirty="0"/>
              <a:t>Repräsentiert ein einzelnes Rezept mit allen relevanten Attributen</a:t>
            </a:r>
          </a:p>
          <a:p>
            <a:r>
              <a:rPr lang="de-DE" dirty="0"/>
              <a:t>Implementiert </a:t>
            </a:r>
            <a:r>
              <a:rPr lang="de-DE" dirty="0" err="1"/>
              <a:t>Serializable</a:t>
            </a:r>
            <a:r>
              <a:rPr lang="de-DE" dirty="0"/>
              <a:t> → ermöglicht Speicherung in Datei </a:t>
            </a:r>
          </a:p>
          <a:p>
            <a:r>
              <a:rPr lang="de-DE" dirty="0"/>
              <a:t>Zahlreiche Getter &amp; Setter</a:t>
            </a:r>
          </a:p>
          <a:p>
            <a:r>
              <a:rPr lang="de-DE" dirty="0"/>
              <a:t>Einfach erweiterbar (z. B. später Kalorien, Bewertung, etc.) </a:t>
            </a:r>
          </a:p>
          <a:p>
            <a:r>
              <a:rPr lang="de-DE" dirty="0"/>
              <a:t>Basis für alle weiteren Klassen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RezeptManager</a:t>
            </a:r>
            <a:r>
              <a:rPr lang="de-DE" dirty="0"/>
              <a:t>, GUI-Komponenten)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9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906F3-9312-7D51-10A9-58467402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CFF1D9B-6724-040E-E6CA-E3A45A4C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RezeptManager.java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8FEB6FEE-A055-E96B-B1F0-378BA96CF93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AC5AD521-8F18-3758-D449-15938529B8A9}"/>
              </a:ext>
            </a:extLst>
          </p:cNvPr>
          <p:cNvSpPr/>
          <p:nvPr/>
        </p:nvSpPr>
        <p:spPr>
          <a:xfrm>
            <a:off x="1680451" y="3429000"/>
            <a:ext cx="1922065" cy="307818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CDF4F3E0-3DA1-9995-DA3F-5ECFC192B40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4521547" y="2215462"/>
            <a:ext cx="7017868" cy="304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AD86C-AEEB-958D-3C83-F3E0572A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2FCEBF1-8247-2208-AF15-A25081F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RezeptManager.java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7EE16E3A-C558-A611-48EA-A3931C06FB7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2EF10288-08C4-1FD1-77CB-60461237F174}"/>
              </a:ext>
            </a:extLst>
          </p:cNvPr>
          <p:cNvSpPr/>
          <p:nvPr/>
        </p:nvSpPr>
        <p:spPr>
          <a:xfrm>
            <a:off x="1680451" y="3429000"/>
            <a:ext cx="1922065" cy="307818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FDC7A12-6CEB-F9D1-7E04-FA570A6D037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Zentrale Klasse für die Verwaltung aller Rezepte</a:t>
            </a:r>
          </a:p>
          <a:p>
            <a:r>
              <a:rPr lang="de-DE" b="1" dirty="0"/>
              <a:t>Wichtige Funktionen:</a:t>
            </a:r>
          </a:p>
          <a:p>
            <a:pPr lvl="1"/>
            <a:r>
              <a:rPr lang="de-DE" dirty="0"/>
              <a:t>Hinzufügen neuer Rezepte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addRezept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Löschen von Rezepten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removeRezept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Aktualisieren von Rezepten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updateRezept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Laden aller Rezepte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getAllRezepte</a:t>
            </a:r>
            <a:r>
              <a:rPr lang="de-DE" dirty="0"/>
              <a:t>)</a:t>
            </a:r>
          </a:p>
          <a:p>
            <a:r>
              <a:rPr lang="de-DE" dirty="0"/>
              <a:t>Verwendet </a:t>
            </a:r>
            <a:r>
              <a:rPr lang="de-DE" b="1" dirty="0"/>
              <a:t>Java-Serialisierung</a:t>
            </a:r>
            <a:r>
              <a:rPr lang="de-DE" dirty="0"/>
              <a:t>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  <a:r>
              <a:rPr lang="de-DE" dirty="0"/>
              <a:t> /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  <a:r>
              <a:rPr lang="de-DE" dirty="0"/>
              <a:t>) </a:t>
            </a:r>
          </a:p>
          <a:p>
            <a:pPr lvl="1"/>
            <a:r>
              <a:rPr lang="de-DE" dirty="0"/>
              <a:t>Speichert alle Rezepte in der Binärdatei </a:t>
            </a:r>
            <a:r>
              <a:rPr lang="de-DE" dirty="0" err="1"/>
              <a:t>data</a:t>
            </a:r>
            <a:r>
              <a:rPr lang="de-DE" dirty="0"/>
              <a:t>/</a:t>
            </a:r>
            <a:r>
              <a:rPr lang="de-DE" dirty="0" err="1"/>
              <a:t>rezepte.dat</a:t>
            </a:r>
            <a:endParaRPr lang="de-DE" dirty="0"/>
          </a:p>
          <a:p>
            <a:pPr lvl="1"/>
            <a:r>
              <a:rPr lang="de-DE" dirty="0"/>
              <a:t>Keine zusätzliche Datenbank notwendig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310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E24F8-DD79-F7D6-8479-DBD56BED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86EC5FB-D791-B073-ABDD-E7BFA7CD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MainFrame.java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4B4929BC-5635-469A-4EBF-B928EE76486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E4096CA6-4474-B614-C2CF-C68EED8D60A5}"/>
              </a:ext>
            </a:extLst>
          </p:cNvPr>
          <p:cNvSpPr/>
          <p:nvPr/>
        </p:nvSpPr>
        <p:spPr>
          <a:xfrm>
            <a:off x="1636385" y="3922004"/>
            <a:ext cx="1558507" cy="238987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130F341-B597-6080-810C-3C7D0F4FCA4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6328552" y="1222512"/>
            <a:ext cx="3322332" cy="491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2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56A54-0D73-1491-30BE-655B8C26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69E9A93-FD6B-2C57-D43B-DD00737D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MainFrame.java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46EE7B5D-B4AB-A87F-545A-9DA23958EE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4C5DB31-8606-D4AE-CDFF-706498EDE11B}"/>
              </a:ext>
            </a:extLst>
          </p:cNvPr>
          <p:cNvSpPr/>
          <p:nvPr/>
        </p:nvSpPr>
        <p:spPr>
          <a:xfrm>
            <a:off x="1636385" y="3922004"/>
            <a:ext cx="1558507" cy="238987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B16D632-7A9E-1B95-DD49-32525D0069A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Zentrale Klasse der grafischen Benutzeroberfläche</a:t>
            </a:r>
          </a:p>
          <a:p>
            <a:r>
              <a:rPr lang="de-DE" dirty="0"/>
              <a:t>Erbt von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JFrame</a:t>
            </a:r>
            <a:r>
              <a:rPr lang="de-DE" dirty="0"/>
              <a:t> und stellt das Hauptfenster der Anwendung dar</a:t>
            </a:r>
          </a:p>
          <a:p>
            <a:r>
              <a:rPr lang="de-DE" dirty="0"/>
              <a:t>Definiert Aufbau und Layout der gesamten Benutzeroberfläche</a:t>
            </a:r>
          </a:p>
        </p:txBody>
      </p:sp>
    </p:spTree>
    <p:extLst>
      <p:ext uri="{BB962C8B-B14F-4D97-AF65-F5344CB8AC3E}">
        <p14:creationId xmlns:p14="http://schemas.microsoft.com/office/powerpoint/2010/main" val="428720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9829A32-B66A-FA66-4D04-DBE01AC54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43012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D77FC-6122-4685-A194-2A473B57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71A5F4F-EC74-D30E-331A-4B575A4F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RezeptPanel.java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DD04545-EABB-201E-BC67-D04BEE8DE8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3AED9ABA-A0DE-FDE1-4477-F3EA89CD22CB}"/>
              </a:ext>
            </a:extLst>
          </p:cNvPr>
          <p:cNvSpPr/>
          <p:nvPr/>
        </p:nvSpPr>
        <p:spPr>
          <a:xfrm>
            <a:off x="1632147" y="4403527"/>
            <a:ext cx="1900030" cy="264405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52616306-E875-D6C6-74A0-B6ADD04730F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5464003" y="1770199"/>
            <a:ext cx="4501963" cy="416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3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FCEEC-3909-4654-83E4-788D823E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C7CC75A-9F23-C9F8-F0B5-B9B6D450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RezeptPanel.java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1542F6F6-69E1-C707-EEC3-01ED30557E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838E369-8FB2-3795-67F1-7FE567C651B0}"/>
              </a:ext>
            </a:extLst>
          </p:cNvPr>
          <p:cNvSpPr/>
          <p:nvPr/>
        </p:nvSpPr>
        <p:spPr>
          <a:xfrm>
            <a:off x="1632147" y="4403527"/>
            <a:ext cx="1900030" cy="264405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F173108-D56C-30F7-4E24-6DF41905FE6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Rechte Seite der Hauptansicht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MainFrame</a:t>
            </a:r>
            <a:r>
              <a:rPr lang="de-DE" dirty="0"/>
              <a:t>)</a:t>
            </a:r>
          </a:p>
          <a:p>
            <a:r>
              <a:rPr lang="de-DE" dirty="0"/>
              <a:t>Verantwortlich für die detaillierte Darstellung eines ausgewählten Rezepts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444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84122-8032-8BE0-37FB-3E114533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66D1D50-870D-770F-0014-A0E82AF1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AddEditDialog.java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2FD28962-E4DD-1F93-DD6E-1C5704E9EA5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DFBFCFA-9766-41E1-F45C-804F1399BB3A}"/>
              </a:ext>
            </a:extLst>
          </p:cNvPr>
          <p:cNvSpPr/>
          <p:nvPr/>
        </p:nvSpPr>
        <p:spPr>
          <a:xfrm>
            <a:off x="1702486" y="4164376"/>
            <a:ext cx="1900030" cy="264405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52B0A0A7-458E-7248-3C4B-AE612C9F6D05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4976159" y="1707614"/>
            <a:ext cx="6395577" cy="429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3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0B320-80D6-C803-3907-9648F79C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4468918-F643-05E2-6D23-308ABB39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AddEditDialog.java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7B8AAD8B-9FFA-C9BD-AD21-A7D72751B38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DA760D0-F32D-CD0E-A0ED-925A07CC0D3F}"/>
              </a:ext>
            </a:extLst>
          </p:cNvPr>
          <p:cNvSpPr/>
          <p:nvPr/>
        </p:nvSpPr>
        <p:spPr>
          <a:xfrm>
            <a:off x="1702486" y="4164376"/>
            <a:ext cx="1900030" cy="264405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36109A-FB21-2953-5D34-504DFCC29A2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Dialog zum Anlegen und Bearbeiten von Rezepten</a:t>
            </a:r>
          </a:p>
          <a:p>
            <a:r>
              <a:rPr lang="de-DE" dirty="0"/>
              <a:t>Erbt von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JDialog</a:t>
            </a:r>
            <a:r>
              <a:rPr lang="de-DE" dirty="0"/>
              <a:t> und wird über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MainFrame</a:t>
            </a:r>
            <a:r>
              <a:rPr lang="de-DE" dirty="0"/>
              <a:t> aufgerufen</a:t>
            </a:r>
          </a:p>
          <a:p>
            <a:r>
              <a:rPr lang="de-DE" dirty="0"/>
              <a:t>Eingabe aller Rezept-Attribute</a:t>
            </a:r>
          </a:p>
          <a:p>
            <a:r>
              <a:rPr lang="de-DE" dirty="0"/>
              <a:t>Button zur KI-Bildgenerierung</a:t>
            </a:r>
          </a:p>
          <a:p>
            <a:r>
              <a:rPr lang="de-DE" dirty="0"/>
              <a:t>Kombiniert Formular, Validierung und KI-Integration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426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C343FE3-1FDB-27E8-B31F-FFAE8E53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00125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0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86087-1385-64A9-95C1-D341AD26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3FCA999-39B2-D7A5-4BCE-1DD7637A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RezeptListRenderer.java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8D5F07FD-86D2-FAFB-417E-E04B1F0E743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E8798586-D632-A2F5-F618-6969F094E7B5}"/>
              </a:ext>
            </a:extLst>
          </p:cNvPr>
          <p:cNvSpPr/>
          <p:nvPr/>
        </p:nvSpPr>
        <p:spPr>
          <a:xfrm>
            <a:off x="1702484" y="4642678"/>
            <a:ext cx="2499799" cy="281014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44DB4EC-C7C5-73CA-402D-CDBBC8255C1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b="1" dirty="0"/>
              <a:t>Custom </a:t>
            </a:r>
            <a:r>
              <a:rPr lang="de-DE" b="1" dirty="0" err="1"/>
              <a:t>ListCellRenderer</a:t>
            </a:r>
            <a:r>
              <a:rPr lang="de-DE" dirty="0"/>
              <a:t> für die Rezeptliste in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MainFrame</a:t>
            </a:r>
            <a:r>
              <a:rPr lang="de-DE" dirty="0"/>
              <a:t> </a:t>
            </a:r>
          </a:p>
          <a:p>
            <a:r>
              <a:rPr lang="de-DE" dirty="0"/>
              <a:t>Erbt von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DefaultListCellRenderer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Individuelle Darstellung jedes Rezepts in der linken Liste</a:t>
            </a:r>
          </a:p>
          <a:p>
            <a:r>
              <a:rPr lang="de-DE" dirty="0"/>
              <a:t>Anzeige von Titel, Kategorie, Zubereitungszeit und Portionen </a:t>
            </a:r>
          </a:p>
          <a:p>
            <a:r>
              <a:rPr lang="de-DE" dirty="0"/>
              <a:t>Verwendet HTML-Formatierung (&lt;</a:t>
            </a:r>
            <a:r>
              <a:rPr lang="de-DE" dirty="0" err="1"/>
              <a:t>html</a:t>
            </a:r>
            <a:r>
              <a:rPr lang="de-DE" dirty="0"/>
              <a:t>&gt;, &lt;b&gt;, &lt;</a:t>
            </a:r>
            <a:r>
              <a:rPr lang="de-DE" dirty="0" err="1"/>
              <a:t>small</a:t>
            </a:r>
            <a:r>
              <a:rPr lang="de-DE" dirty="0"/>
              <a:t>&gt;) für gestaltete Textdarstellung </a:t>
            </a:r>
          </a:p>
        </p:txBody>
      </p:sp>
    </p:spTree>
    <p:extLst>
      <p:ext uri="{BB962C8B-B14F-4D97-AF65-F5344CB8AC3E}">
        <p14:creationId xmlns:p14="http://schemas.microsoft.com/office/powerpoint/2010/main" val="111852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97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50052-21A9-14E8-D0B5-576D7829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28C92B7-4AE3-6456-CEAF-C4C5C7DA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ImageGenerator.java</a:t>
            </a:r>
            <a:endParaRPr lang="de-DE" dirty="0"/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BA6E2D41-3BBB-0185-2CF2-713EAA0839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19075" y="1457866"/>
            <a:ext cx="3983209" cy="4790616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5508ABCA-0904-0D4E-01AB-2A37137B2295}"/>
              </a:ext>
            </a:extLst>
          </p:cNvPr>
          <p:cNvSpPr/>
          <p:nvPr/>
        </p:nvSpPr>
        <p:spPr>
          <a:xfrm>
            <a:off x="1702485" y="4867761"/>
            <a:ext cx="2039521" cy="309150"/>
          </a:xfrm>
          <a:prstGeom prst="roundRect">
            <a:avLst/>
          </a:prstGeom>
          <a:solidFill>
            <a:srgbClr val="FFFF00">
              <a:alpha val="2012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73B8681-7C1C-F6E3-23D9-A9C415F66DC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Hilfsklasse für die KI-gestützte Bildgenerierung</a:t>
            </a:r>
          </a:p>
          <a:p>
            <a:r>
              <a:rPr lang="de-DE" dirty="0"/>
              <a:t>Kapselt die Kommunikation mit der externen Flux-API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498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4848397-2C7B-73AF-DB53-F1BB59D98B7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2822833" y="1222512"/>
            <a:ext cx="5738595" cy="4648262"/>
          </a:xfrm>
          <a:prstGeom prst="rect">
            <a:avLst/>
          </a:prstGeom>
          <a:noFill/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8080BBF6-71A1-A647-10EF-B6A18E13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298724"/>
            <a:ext cx="10449985" cy="923788"/>
          </a:xfrm>
        </p:spPr>
        <p:txBody>
          <a:bodyPr anchor="ctr">
            <a:normAutofit/>
          </a:bodyPr>
          <a:lstStyle/>
          <a:p>
            <a:r>
              <a:rPr lang="de-DE" dirty="0"/>
              <a:t>Ablauf der KI-Bildgenerierung</a:t>
            </a:r>
          </a:p>
        </p:txBody>
      </p:sp>
    </p:spTree>
    <p:extLst>
      <p:ext uri="{BB962C8B-B14F-4D97-AF65-F5344CB8AC3E}">
        <p14:creationId xmlns:p14="http://schemas.microsoft.com/office/powerpoint/2010/main" val="399166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95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Horze Group PPT">
  <a:themeElements>
    <a:clrScheme name="Custom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C74836"/>
      </a:accent1>
      <a:accent2>
        <a:srgbClr val="DFCFCA"/>
      </a:accent2>
      <a:accent3>
        <a:srgbClr val="59665E"/>
      </a:accent3>
      <a:accent4>
        <a:srgbClr val="CBD5D3"/>
      </a:accent4>
      <a:accent5>
        <a:srgbClr val="685888"/>
      </a:accent5>
      <a:accent6>
        <a:srgbClr val="C6C1D6"/>
      </a:accent6>
      <a:hlink>
        <a:srgbClr val="696464"/>
      </a:hlink>
      <a:folHlink>
        <a:srgbClr val="696464"/>
      </a:folHlink>
    </a:clrScheme>
    <a:fontScheme name="Horze Group">
      <a:majorFont>
        <a:latin typeface="SangBleu OG Sans"/>
        <a:ea typeface=""/>
        <a:cs typeface=""/>
      </a:majorFont>
      <a:minorFont>
        <a:latin typeface="Cer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ktpräsentationFachinformatikerAnwendungsentwicklung2025HelenRebmann" id="{0517CB1C-438A-5B46-88DC-075A3CFC36F8}" vid="{A4BB378B-F409-A34B-A3FA-C705AA28C0D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ProjektpräsentationFachinformatikerAnwendungsentwicklung2025HelenRebmann</Template>
  <TotalTime>0</TotalTime>
  <Words>799</Words>
  <Application>Microsoft Macintosh PowerPoint</Application>
  <PresentationFormat>Breitbild</PresentationFormat>
  <Paragraphs>120</Paragraphs>
  <Slides>25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2" baseType="lpstr">
      <vt:lpstr>Aptos</vt:lpstr>
      <vt:lpstr>Arial</vt:lpstr>
      <vt:lpstr>Cera Pro</vt:lpstr>
      <vt:lpstr>Courier New</vt:lpstr>
      <vt:lpstr>SangBleu OG Sans</vt:lpstr>
      <vt:lpstr>SangBleu OG Sans Light</vt:lpstr>
      <vt:lpstr>Horze Group PPT</vt:lpstr>
      <vt:lpstr>Kochbuch mit grafischer Benutzeroberfläche und KI-Bildgenerierung</vt:lpstr>
      <vt:lpstr>Anforderungsanalyse</vt:lpstr>
      <vt:lpstr>Funktionale Anforderungen</vt:lpstr>
      <vt:lpstr>Nicht-funktionale Anforderungen</vt:lpstr>
      <vt:lpstr>Technologie-Stack</vt:lpstr>
      <vt:lpstr>Technologie-Stack</vt:lpstr>
      <vt:lpstr>Implementierung</vt:lpstr>
      <vt:lpstr>Ordner- und Packagestruktur</vt:lpstr>
      <vt:lpstr>Main.java</vt:lpstr>
      <vt:lpstr>Rezept.java</vt:lpstr>
      <vt:lpstr>Rezept.java</vt:lpstr>
      <vt:lpstr>RezeptManager.java</vt:lpstr>
      <vt:lpstr>RezeptManager.java</vt:lpstr>
      <vt:lpstr>MainFrame.java</vt:lpstr>
      <vt:lpstr>MainFrame.java</vt:lpstr>
      <vt:lpstr>PowerPoint-Präsentation</vt:lpstr>
      <vt:lpstr>RezeptPanel.java</vt:lpstr>
      <vt:lpstr>RezeptPanel.java</vt:lpstr>
      <vt:lpstr>AddEditDialog.java</vt:lpstr>
      <vt:lpstr>AddEditDialog.java</vt:lpstr>
      <vt:lpstr>PowerPoint-Präsentation</vt:lpstr>
      <vt:lpstr>RezeptListRenderer.java</vt:lpstr>
      <vt:lpstr>ImageGenerator.java</vt:lpstr>
      <vt:lpstr>Ablauf der KI-Bildgenerierung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laack</dc:creator>
  <cp:lastModifiedBy>david laack</cp:lastModifiedBy>
  <cp:revision>5</cp:revision>
  <dcterms:created xsi:type="dcterms:W3CDTF">2026-07-02T09:10:59Z</dcterms:created>
  <dcterms:modified xsi:type="dcterms:W3CDTF">2026-07-06T09:22:09Z</dcterms:modified>
</cp:coreProperties>
</file>